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86" r:id="rId3"/>
    <p:sldId id="296" r:id="rId4"/>
    <p:sldId id="267" r:id="rId5"/>
    <p:sldId id="289" r:id="rId6"/>
    <p:sldId id="288" r:id="rId7"/>
    <p:sldId id="297" r:id="rId8"/>
    <p:sldId id="261" r:id="rId9"/>
    <p:sldId id="291" r:id="rId10"/>
    <p:sldId id="292" r:id="rId11"/>
    <p:sldId id="298" r:id="rId12"/>
    <p:sldId id="294" r:id="rId13"/>
    <p:sldId id="295" r:id="rId14"/>
    <p:sldId id="268" r:id="rId15"/>
    <p:sldId id="274" r:id="rId16"/>
    <p:sldId id="278" r:id="rId17"/>
    <p:sldId id="299" r:id="rId18"/>
    <p:sldId id="30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8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7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shaprasad, Shrikesh" userId="03eef5c3-5323-4639-8a8d-93260e2fc901" providerId="ADAL" clId="{77F40117-DDEA-7944-9556-7F9B46A10263}"/>
    <pc:docChg chg="modSld">
      <pc:chgData name="Sheshaprasad, Shrikesh" userId="03eef5c3-5323-4639-8a8d-93260e2fc901" providerId="ADAL" clId="{77F40117-DDEA-7944-9556-7F9B46A10263}" dt="2024-01-24T19:19:12.590" v="148" actId="20577"/>
      <pc:docMkLst>
        <pc:docMk/>
      </pc:docMkLst>
      <pc:sldChg chg="modSp mod">
        <pc:chgData name="Sheshaprasad, Shrikesh" userId="03eef5c3-5323-4639-8a8d-93260e2fc901" providerId="ADAL" clId="{77F40117-DDEA-7944-9556-7F9B46A10263}" dt="2024-01-23T20:16:55.438" v="1" actId="20577"/>
        <pc:sldMkLst>
          <pc:docMk/>
          <pc:sldMk cId="2454958785" sldId="256"/>
        </pc:sldMkLst>
        <pc:spChg chg="mod">
          <ac:chgData name="Sheshaprasad, Shrikesh" userId="03eef5c3-5323-4639-8a8d-93260e2fc901" providerId="ADAL" clId="{77F40117-DDEA-7944-9556-7F9B46A10263}" dt="2024-01-23T20:16:55.438" v="1" actId="20577"/>
          <ac:spMkLst>
            <pc:docMk/>
            <pc:sldMk cId="2454958785" sldId="256"/>
            <ac:spMk id="2" creationId="{00000000-0000-0000-0000-000000000000}"/>
          </ac:spMkLst>
        </pc:spChg>
      </pc:sldChg>
      <pc:sldChg chg="modSp">
        <pc:chgData name="Sheshaprasad, Shrikesh" userId="03eef5c3-5323-4639-8a8d-93260e2fc901" providerId="ADAL" clId="{77F40117-DDEA-7944-9556-7F9B46A10263}" dt="2024-01-24T19:18:13.282" v="98" actId="20577"/>
        <pc:sldMkLst>
          <pc:docMk/>
          <pc:sldMk cId="1453851137" sldId="261"/>
        </pc:sldMkLst>
        <pc:spChg chg="mod">
          <ac:chgData name="Sheshaprasad, Shrikesh" userId="03eef5c3-5323-4639-8a8d-93260e2fc901" providerId="ADAL" clId="{77F40117-DDEA-7944-9556-7F9B46A10263}" dt="2024-01-24T19:18:13.282" v="98" actId="20577"/>
          <ac:spMkLst>
            <pc:docMk/>
            <pc:sldMk cId="1453851137" sldId="261"/>
            <ac:spMk id="3" creationId="{00000000-0000-0000-0000-000000000000}"/>
          </ac:spMkLst>
        </pc:spChg>
      </pc:sldChg>
      <pc:sldChg chg="modSp">
        <pc:chgData name="Sheshaprasad, Shrikesh" userId="03eef5c3-5323-4639-8a8d-93260e2fc901" providerId="ADAL" clId="{77F40117-DDEA-7944-9556-7F9B46A10263}" dt="2024-01-24T19:19:12.590" v="148" actId="20577"/>
        <pc:sldMkLst>
          <pc:docMk/>
          <pc:sldMk cId="1329139905" sldId="291"/>
        </pc:sldMkLst>
        <pc:spChg chg="mod">
          <ac:chgData name="Sheshaprasad, Shrikesh" userId="03eef5c3-5323-4639-8a8d-93260e2fc901" providerId="ADAL" clId="{77F40117-DDEA-7944-9556-7F9B46A10263}" dt="2024-01-24T19:19:12.590" v="148" actId="20577"/>
          <ac:spMkLst>
            <pc:docMk/>
            <pc:sldMk cId="1329139905" sldId="291"/>
            <ac:spMk id="3" creationId="{00000000-0000-0000-0000-000000000000}"/>
          </ac:spMkLst>
        </pc:spChg>
      </pc:sldChg>
      <pc:sldChg chg="modSp">
        <pc:chgData name="Sheshaprasad, Shrikesh" userId="03eef5c3-5323-4639-8a8d-93260e2fc901" providerId="ADAL" clId="{77F40117-DDEA-7944-9556-7F9B46A10263}" dt="2024-01-24T04:35:42.189" v="94" actId="20577"/>
        <pc:sldMkLst>
          <pc:docMk/>
          <pc:sldMk cId="105280530" sldId="294"/>
        </pc:sldMkLst>
        <pc:spChg chg="mod">
          <ac:chgData name="Sheshaprasad, Shrikesh" userId="03eef5c3-5323-4639-8a8d-93260e2fc901" providerId="ADAL" clId="{77F40117-DDEA-7944-9556-7F9B46A10263}" dt="2024-01-24T04:35:42.189" v="94" actId="20577"/>
          <ac:spMkLst>
            <pc:docMk/>
            <pc:sldMk cId="105280530" sldId="29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0684B-EBBE-4A8A-9B42-DDFA4A02F439}" type="datetimeFigureOut">
              <a:rPr lang="en-US" smtClean="0"/>
              <a:t>1/24/24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256C0-A154-4525-94DD-0FDE5ADFA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19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DA02-CFC9-471E-89F7-FA69BF3B7288}" type="datetime1">
              <a:rPr lang="en-US" smtClean="0"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7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38A68-2753-4C36-8796-E388CA04EEAD}" type="datetime1">
              <a:rPr lang="en-US" smtClean="0"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C4D0-15AC-4068-917E-CAB759451FA4}" type="datetime1">
              <a:rPr lang="en-US" smtClean="0"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5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204E-B697-4DEA-9457-322311B0CF59}" type="datetime1">
              <a:rPr lang="en-US" smtClean="0"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3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72D24-4CE7-47A6-9DB6-26A613D31765}" type="datetime1">
              <a:rPr lang="en-US" smtClean="0"/>
              <a:t>1/24/24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9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E9ED-9CCE-4D81-AE8E-078DDF3CF6AA}" type="datetime1">
              <a:rPr lang="en-US" smtClean="0"/>
              <a:t>1/24/24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0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BF29-7D59-4B4C-A65A-D52F26415593}" type="datetime1">
              <a:rPr lang="en-US" smtClean="0"/>
              <a:t>1/24/24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1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DCCA9-B5D4-4556-92E1-1A124345D57F}" type="datetime1">
              <a:rPr lang="en-US" smtClean="0"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5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92FE-E1C9-4D51-B4E8-F676B4A03DAF}" type="datetime1">
              <a:rPr lang="en-US" smtClean="0"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9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1E7C-709F-4B98-8DC4-D52D8F481229}" type="datetime1">
              <a:rPr lang="en-US" smtClean="0"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1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94AB0-93A9-4AE7-A9CE-8E2C3C433B52}" type="datetime1">
              <a:rPr lang="en-US" smtClean="0"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3608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7FAE-32AA-4D9B-8D8F-09058F581CCE}" type="datetime1">
              <a:rPr lang="en-US" smtClean="0"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19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4933-E3D4-45BE-898D-5740E7F153C4}" type="datetime1">
              <a:rPr lang="en-US" smtClean="0"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4321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CB487-9C03-4225-9075-CC4A1E509BDC}" type="datetime1">
              <a:rPr lang="en-US" smtClean="0"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4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A753-CF00-47BB-8A77-43CAF0E4B9E7}" type="datetime1">
              <a:rPr lang="en-US" smtClean="0"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32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726D-AECF-409A-8738-0222594670D8}" type="datetime1">
              <a:rPr lang="en-US" smtClean="0"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5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57989-5FF3-405F-87FE-B7CBFB1B52FE}" type="datetime1">
              <a:rPr lang="en-US" smtClean="0"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E9EBF23-D307-43F9-A4FF-88E2577A6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21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ultisim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Spring‘24 – ECEN 214 Labs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80"/>
            <a:ext cx="8915399" cy="552266"/>
          </a:xfrm>
        </p:spPr>
        <p:txBody>
          <a:bodyPr>
            <a:normAutofit/>
          </a:bodyPr>
          <a:lstStyle/>
          <a:p>
            <a:r>
              <a:rPr lang="en-US" sz="2400" b="1" dirty="0"/>
              <a:t>Introductory Meeting </a:t>
            </a:r>
          </a:p>
        </p:txBody>
      </p:sp>
      <p:pic>
        <p:nvPicPr>
          <p:cNvPr id="4" name="Picture 16" descr="Image result for tamu 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950" y="770938"/>
            <a:ext cx="2027303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5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4879" y="658944"/>
            <a:ext cx="8911687" cy="1280890"/>
          </a:xfrm>
        </p:spPr>
        <p:txBody>
          <a:bodyPr/>
          <a:lstStyle/>
          <a:p>
            <a:r>
              <a:rPr lang="en-US" dirty="0"/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793966"/>
            <a:ext cx="8915400" cy="3777622"/>
          </a:xfrm>
        </p:spPr>
        <p:txBody>
          <a:bodyPr>
            <a:noAutofit/>
          </a:bodyPr>
          <a:lstStyle/>
          <a:p>
            <a:r>
              <a:rPr lang="en-US" sz="2400" dirty="0"/>
              <a:t>Know basic lab information</a:t>
            </a:r>
          </a:p>
          <a:p>
            <a:endParaRPr lang="en-US" sz="2400" dirty="0"/>
          </a:p>
          <a:p>
            <a:r>
              <a:rPr lang="en-US" sz="2400" dirty="0"/>
              <a:t>Know how &amp; where to submit lab reports</a:t>
            </a:r>
          </a:p>
          <a:p>
            <a:endParaRPr lang="en-US" sz="2400" dirty="0"/>
          </a:p>
          <a:p>
            <a:r>
              <a:rPr lang="en-US" sz="2400" dirty="0"/>
              <a:t>Know common labs regulations and safety protocol</a:t>
            </a:r>
          </a:p>
          <a:p>
            <a:endParaRPr lang="en-US" sz="2400" dirty="0"/>
          </a:p>
          <a:p>
            <a:r>
              <a:rPr lang="en-US" sz="2400" dirty="0"/>
              <a:t>Information for collection of parts kits and AD2 units</a:t>
            </a:r>
          </a:p>
          <a:p>
            <a:endParaRPr lang="en-US" sz="2400" dirty="0"/>
          </a:p>
          <a:p>
            <a:r>
              <a:rPr lang="en-US" sz="2400" dirty="0"/>
              <a:t>Lab teams and roster creation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Basic Lab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2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6387" y="6439710"/>
            <a:ext cx="6935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Sia</a:t>
            </a:r>
            <a:r>
              <a:rPr lang="en-US" sz="1200" dirty="0"/>
              <a:t> Su, Shei. “Common Labs Orientation Safety.” 11 Jan. 2023, Texas A&amp;M University, College Station, 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442" y="2163624"/>
            <a:ext cx="3698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Our Lab: 3</a:t>
            </a:r>
            <a:r>
              <a:rPr lang="en-US" b="1" baseline="30000" dirty="0"/>
              <a:t>rd</a:t>
            </a:r>
            <a:r>
              <a:rPr lang="en-US" b="1" dirty="0"/>
              <a:t> Floor - Lab 324</a:t>
            </a:r>
          </a:p>
          <a:p>
            <a:endParaRPr lang="en-US" b="1" dirty="0"/>
          </a:p>
          <a:p>
            <a:r>
              <a:rPr lang="en-US" dirty="0"/>
              <a:t> </a:t>
            </a:r>
          </a:p>
          <a:p>
            <a:r>
              <a:rPr lang="en-US" b="1" dirty="0"/>
              <a:t>Work stations: ES3 &amp; ES4</a:t>
            </a:r>
          </a:p>
        </p:txBody>
      </p:sp>
      <p:pic>
        <p:nvPicPr>
          <p:cNvPr id="1025" name="Picture 1" descr="silhouette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4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13042" y="1264555"/>
            <a:ext cx="7001521" cy="501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5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777" y="632819"/>
            <a:ext cx="8911687" cy="1280890"/>
          </a:xfrm>
        </p:spPr>
        <p:txBody>
          <a:bodyPr/>
          <a:lstStyle/>
          <a:p>
            <a:r>
              <a:rPr lang="en-US" dirty="0"/>
              <a:t>Lab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812" y="787778"/>
            <a:ext cx="412047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r>
              <a:rPr lang="en-US" sz="1600" dirty="0"/>
              <a:t>Total Reports: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0000"/>
                </a:solidFill>
              </a:rPr>
              <a:t>9 Prelabs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F0000"/>
                </a:solidFill>
              </a:rPr>
              <a:t>9 </a:t>
            </a:r>
            <a:r>
              <a:rPr lang="en-US" sz="1600" dirty="0" err="1">
                <a:solidFill>
                  <a:srgbClr val="FF0000"/>
                </a:solidFill>
              </a:rPr>
              <a:t>Postlabs</a:t>
            </a:r>
            <a:endParaRPr lang="en-US" sz="16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sz="16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/>
              <a:t>Lab manuals and appendices are </a:t>
            </a:r>
            <a:r>
              <a:rPr lang="en-US" sz="1600" b="1" dirty="0"/>
              <a:t>available on Canvas</a:t>
            </a:r>
          </a:p>
          <a:p>
            <a:pPr marL="285750" indent="-285750">
              <a:buFontTx/>
              <a:buChar char="-"/>
            </a:pPr>
            <a:endParaRPr lang="en-US" sz="1600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/>
              <a:t>Email me at least one day ahead if you cannot come. Have a valid excuse.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If you're getting late, email me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Include </a:t>
            </a:r>
            <a:r>
              <a:rPr lang="en-US" sz="1600" b="1" u="sng" dirty="0"/>
              <a:t>‘ECEN 214 – Section5##’ </a:t>
            </a:r>
            <a:r>
              <a:rPr lang="en-US" sz="1600" dirty="0"/>
              <a:t>in the subject of any email correspondence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1288EF-B4CD-DFA2-C3B3-C8ECB8E50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643" y="1291885"/>
            <a:ext cx="6132570" cy="501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measurement devices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22" y="3189692"/>
            <a:ext cx="3134358" cy="14258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49" y="4809958"/>
            <a:ext cx="2906486" cy="1921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676" y="2164280"/>
            <a:ext cx="4275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AutoNum type="arabicParenR"/>
            </a:pPr>
            <a:r>
              <a:rPr lang="en-US" sz="2400" dirty="0"/>
              <a:t>Bench Equipment </a:t>
            </a:r>
          </a:p>
          <a:p>
            <a:pPr algn="ctr"/>
            <a:r>
              <a:rPr lang="en-US" sz="2400" dirty="0"/>
              <a:t>(in-lab)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2955" y="2106393"/>
            <a:ext cx="4565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2) Portable measurement device  </a:t>
            </a:r>
          </a:p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Analog Discovery 2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8169" y="2113801"/>
            <a:ext cx="2349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3) Simulations</a:t>
            </a:r>
          </a:p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Multisim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335" y="3812268"/>
            <a:ext cx="1828804" cy="18105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222" y="3319801"/>
            <a:ext cx="2795451" cy="2795451"/>
          </a:xfrm>
          <a:prstGeom prst="rect">
            <a:avLst/>
          </a:prstGeom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5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Prelab and </a:t>
            </a:r>
            <a:r>
              <a:rPr lang="en-US" dirty="0" err="1"/>
              <a:t>Postlab</a:t>
            </a:r>
            <a:r>
              <a:rPr lang="en-US" dirty="0"/>
              <a:t> Reports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25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992" y="1538592"/>
            <a:ext cx="8937375" cy="4879386"/>
          </a:xfrm>
        </p:spPr>
        <p:txBody>
          <a:bodyPr>
            <a:noAutofit/>
          </a:bodyPr>
          <a:lstStyle/>
          <a:p>
            <a:pPr>
              <a:buFont typeface="+mj-lt"/>
              <a:buAutoNum type="arabicParenR"/>
            </a:pPr>
            <a:r>
              <a:rPr lang="en-US" altLang="zh-CN" sz="1600" dirty="0"/>
              <a:t>Prelabs are due at the </a:t>
            </a:r>
            <a:r>
              <a:rPr lang="en-US" altLang="zh-CN" sz="1600" b="1" dirty="0"/>
              <a:t>start of the lab</a:t>
            </a:r>
            <a:r>
              <a:rPr lang="en-US" altLang="zh-CN" sz="1600" dirty="0"/>
              <a:t>; </a:t>
            </a:r>
            <a:r>
              <a:rPr lang="en-US" altLang="zh-CN" sz="1600" b="1" dirty="0"/>
              <a:t>it is an individual submission.</a:t>
            </a:r>
          </a:p>
          <a:p>
            <a:pPr>
              <a:buFont typeface="+mj-lt"/>
              <a:buAutoNum type="arabicParenR"/>
            </a:pPr>
            <a:endParaRPr lang="en-US" altLang="zh-CN" sz="1600" dirty="0"/>
          </a:p>
          <a:p>
            <a:pPr>
              <a:buFont typeface="+mj-lt"/>
              <a:buAutoNum type="arabicParenR"/>
            </a:pPr>
            <a:r>
              <a:rPr lang="en-US" altLang="zh-CN" sz="1600" dirty="0"/>
              <a:t>Every prelab is </a:t>
            </a:r>
            <a:r>
              <a:rPr lang="en-US" altLang="zh-CN" sz="1600" b="1" dirty="0"/>
              <a:t>marked out of 10; no late submissions</a:t>
            </a:r>
            <a:endParaRPr lang="en-US" altLang="zh-CN" sz="1600" dirty="0"/>
          </a:p>
          <a:p>
            <a:pPr>
              <a:buFont typeface="+mj-lt"/>
              <a:buAutoNum type="arabicParenR"/>
            </a:pPr>
            <a:endParaRPr lang="en-US" altLang="zh-CN" sz="1600" b="1" dirty="0"/>
          </a:p>
          <a:p>
            <a:pPr>
              <a:buFont typeface="+mj-lt"/>
              <a:buAutoNum type="arabicParenR"/>
            </a:pPr>
            <a:r>
              <a:rPr lang="en-US" altLang="zh-CN" sz="1600" dirty="0"/>
              <a:t>Simulation work in prelabs: Multisim.</a:t>
            </a:r>
          </a:p>
          <a:p>
            <a:pPr marL="457200" lvl="1" indent="0">
              <a:buNone/>
            </a:pPr>
            <a:r>
              <a:rPr lang="en-US" altLang="zh-CN" sz="1400" dirty="0"/>
              <a:t>Install one if you want, or Multisim online: </a:t>
            </a:r>
            <a:r>
              <a:rPr lang="en-US" altLang="zh-CN" sz="1400" dirty="0">
                <a:hlinkClick r:id="rId2"/>
              </a:rPr>
              <a:t>https://www.multisim.com/</a:t>
            </a:r>
            <a:endParaRPr lang="en-US" altLang="zh-CN" sz="1400" dirty="0"/>
          </a:p>
          <a:p>
            <a:pPr>
              <a:buFont typeface="+mj-lt"/>
              <a:buAutoNum type="arabicParenR"/>
            </a:pPr>
            <a:endParaRPr lang="en-US" altLang="zh-CN" sz="1600" dirty="0"/>
          </a:p>
          <a:p>
            <a:pPr>
              <a:buFont typeface="+mj-lt"/>
              <a:buAutoNum type="arabicParenR"/>
            </a:pPr>
            <a:r>
              <a:rPr lang="en-US" altLang="zh-CN" sz="1600" dirty="0"/>
              <a:t>Search for</a:t>
            </a:r>
            <a:r>
              <a:rPr lang="en-US" altLang="zh-CN" sz="1600" b="1" dirty="0"/>
              <a:t>: Multisim online tutorial</a:t>
            </a:r>
            <a:r>
              <a:rPr lang="en-US" altLang="zh-CN" sz="1600" dirty="0"/>
              <a:t>, I will not be demonstrating it separately.</a:t>
            </a:r>
          </a:p>
          <a:p>
            <a:pPr>
              <a:buFont typeface="+mj-lt"/>
              <a:buAutoNum type="arabicParenR"/>
            </a:pPr>
            <a:endParaRPr lang="en-US" altLang="zh-CN" sz="1600" dirty="0"/>
          </a:p>
          <a:p>
            <a:pPr>
              <a:buFont typeface="+mj-lt"/>
              <a:buAutoNum type="arabicParenR"/>
            </a:pPr>
            <a:r>
              <a:rPr lang="en-US" altLang="zh-CN" sz="1600" dirty="0"/>
              <a:t>A good prelab should include: screenshots of the simulation; photos/scans of your handwritten calculations; all requested information mentioned in the lab manual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Postlab</a:t>
            </a:r>
            <a:r>
              <a:rPr lang="en-US" dirty="0"/>
              <a:t>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7266" y="1485429"/>
            <a:ext cx="9590568" cy="4879386"/>
          </a:xfrm>
        </p:spPr>
        <p:txBody>
          <a:bodyPr>
            <a:noAutofit/>
          </a:bodyPr>
          <a:lstStyle/>
          <a:p>
            <a:pPr>
              <a:buFont typeface="+mj-lt"/>
              <a:buAutoNum type="arabicParenR"/>
            </a:pPr>
            <a:r>
              <a:rPr lang="en-US" altLang="zh-CN" sz="1400" dirty="0" err="1">
                <a:solidFill>
                  <a:schemeClr val="tx1"/>
                </a:solidFill>
              </a:rPr>
              <a:t>Postlabs</a:t>
            </a:r>
            <a:r>
              <a:rPr lang="en-US" altLang="zh-CN" sz="1400" dirty="0">
                <a:solidFill>
                  <a:schemeClr val="tx1"/>
                </a:solidFill>
              </a:rPr>
              <a:t> are due at the </a:t>
            </a:r>
            <a:r>
              <a:rPr lang="en-US" altLang="zh-CN" sz="1400" b="1" dirty="0">
                <a:solidFill>
                  <a:schemeClr val="tx1"/>
                </a:solidFill>
              </a:rPr>
              <a:t>start of the </a:t>
            </a:r>
            <a:r>
              <a:rPr lang="en-US" altLang="zh-CN" sz="1400" b="1" u="sng" dirty="0">
                <a:solidFill>
                  <a:schemeClr val="tx1"/>
                </a:solidFill>
              </a:rPr>
              <a:t>following</a:t>
            </a:r>
            <a:r>
              <a:rPr lang="en-US" altLang="zh-CN" sz="1400" b="1" dirty="0">
                <a:solidFill>
                  <a:schemeClr val="tx1"/>
                </a:solidFill>
              </a:rPr>
              <a:t> week’s lab</a:t>
            </a:r>
            <a:r>
              <a:rPr lang="en-US" altLang="zh-CN" sz="1400" dirty="0">
                <a:solidFill>
                  <a:schemeClr val="tx1"/>
                </a:solidFill>
              </a:rPr>
              <a:t>; </a:t>
            </a:r>
          </a:p>
          <a:p>
            <a:pPr>
              <a:buFont typeface="+mj-lt"/>
              <a:buAutoNum type="arabicParenR"/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buFont typeface="+mj-lt"/>
              <a:buAutoNum type="arabicParenR"/>
            </a:pPr>
            <a:r>
              <a:rPr lang="en-US" altLang="zh-CN" sz="1400" dirty="0">
                <a:solidFill>
                  <a:schemeClr val="tx1"/>
                </a:solidFill>
              </a:rPr>
              <a:t>It is an </a:t>
            </a:r>
            <a:r>
              <a:rPr lang="en-US" altLang="zh-CN" sz="1400" b="1" dirty="0">
                <a:solidFill>
                  <a:schemeClr val="tx1"/>
                </a:solidFill>
              </a:rPr>
              <a:t>group submission</a:t>
            </a:r>
            <a:r>
              <a:rPr lang="en-US" altLang="zh-CN" sz="1400" dirty="0">
                <a:solidFill>
                  <a:schemeClr val="tx1"/>
                </a:solidFill>
              </a:rPr>
              <a:t>; as a team you will be using the lab equipment in rotation. It is your responsibility to split the lab report tasks among yourselves and ensure a complete report is submitted. Make sure at least one of you is submitting the report on time or all members in the team will lose points</a:t>
            </a:r>
          </a:p>
          <a:p>
            <a:pPr>
              <a:buFont typeface="+mj-lt"/>
              <a:buAutoNum type="arabicParenR"/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buFont typeface="+mj-lt"/>
              <a:buAutoNum type="arabicParenR"/>
            </a:pPr>
            <a:r>
              <a:rPr lang="en-US" altLang="zh-CN" sz="1400" dirty="0">
                <a:solidFill>
                  <a:schemeClr val="tx1"/>
                </a:solidFill>
              </a:rPr>
              <a:t>Every </a:t>
            </a:r>
            <a:r>
              <a:rPr lang="en-US" altLang="zh-CN" sz="1400" dirty="0" err="1">
                <a:solidFill>
                  <a:schemeClr val="tx1"/>
                </a:solidFill>
              </a:rPr>
              <a:t>postlab</a:t>
            </a:r>
            <a:r>
              <a:rPr lang="en-US" altLang="zh-CN" sz="1400" dirty="0">
                <a:solidFill>
                  <a:schemeClr val="tx1"/>
                </a:solidFill>
              </a:rPr>
              <a:t> is </a:t>
            </a:r>
            <a:r>
              <a:rPr lang="en-US" altLang="zh-CN" sz="1400" b="1" dirty="0">
                <a:solidFill>
                  <a:schemeClr val="tx1"/>
                </a:solidFill>
              </a:rPr>
              <a:t>marked out of 100 points</a:t>
            </a:r>
            <a:r>
              <a:rPr lang="en-US" altLang="zh-CN" sz="1400" dirty="0">
                <a:solidFill>
                  <a:schemeClr val="tx1"/>
                </a:solidFill>
              </a:rPr>
              <a:t>; </a:t>
            </a:r>
            <a:r>
              <a:rPr lang="en-US" altLang="zh-CN" sz="1400" b="1" dirty="0">
                <a:solidFill>
                  <a:schemeClr val="tx1"/>
                </a:solidFill>
              </a:rPr>
              <a:t>late submissions will receive -10</a:t>
            </a:r>
            <a:r>
              <a:rPr lang="en-US" altLang="zh-CN" sz="1400" b="1">
                <a:solidFill>
                  <a:schemeClr val="tx1"/>
                </a:solidFill>
              </a:rPr>
              <a:t>% penalty </a:t>
            </a:r>
            <a:r>
              <a:rPr lang="en-US" altLang="zh-CN" sz="1400" dirty="0">
                <a:solidFill>
                  <a:schemeClr val="tx1"/>
                </a:solidFill>
              </a:rPr>
              <a:t>for every 24 hours of delay</a:t>
            </a:r>
          </a:p>
          <a:p>
            <a:pPr>
              <a:buFont typeface="+mj-lt"/>
              <a:buAutoNum type="arabicParenR"/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buFont typeface="+mj-lt"/>
              <a:buAutoNum type="arabicParenR"/>
            </a:pPr>
            <a:r>
              <a:rPr lang="en-US" altLang="zh-CN" sz="1400" dirty="0">
                <a:solidFill>
                  <a:schemeClr val="tx1"/>
                </a:solidFill>
              </a:rPr>
              <a:t>Make sure to record raw data on a record sheet (hardcopy) during the lab time.</a:t>
            </a:r>
          </a:p>
          <a:p>
            <a:pPr>
              <a:buFont typeface="+mj-lt"/>
              <a:buAutoNum type="arabicParenR"/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buFont typeface="+mj-lt"/>
              <a:buAutoNum type="arabicParenR"/>
            </a:pPr>
            <a:r>
              <a:rPr lang="en-US" altLang="zh-CN" sz="1400" dirty="0">
                <a:solidFill>
                  <a:schemeClr val="tx1"/>
                </a:solidFill>
              </a:rPr>
              <a:t>Include the </a:t>
            </a:r>
            <a:r>
              <a:rPr lang="en-US" altLang="zh-CN" sz="1400" b="1" dirty="0">
                <a:solidFill>
                  <a:schemeClr val="tx1"/>
                </a:solidFill>
              </a:rPr>
              <a:t>cover page </a:t>
            </a:r>
            <a:r>
              <a:rPr lang="en-US" altLang="zh-CN" sz="1400" dirty="0">
                <a:solidFill>
                  <a:schemeClr val="tx1"/>
                </a:solidFill>
              </a:rPr>
              <a:t>mentioning the </a:t>
            </a:r>
            <a:r>
              <a:rPr lang="en-US" altLang="zh-CN" sz="1400" b="1" dirty="0">
                <a:solidFill>
                  <a:schemeClr val="tx1"/>
                </a:solidFill>
              </a:rPr>
              <a:t>lab number and title, names of authors, date performed and date submitted</a:t>
            </a:r>
          </a:p>
          <a:p>
            <a:pPr>
              <a:buFont typeface="+mj-lt"/>
              <a:buAutoNum type="arabicParenR"/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buFont typeface="+mj-lt"/>
              <a:buAutoNum type="arabicParenR"/>
            </a:pPr>
            <a:r>
              <a:rPr lang="en-US" altLang="zh-CN" sz="1400" dirty="0">
                <a:solidFill>
                  <a:schemeClr val="tx1"/>
                </a:solidFill>
              </a:rPr>
              <a:t>A good </a:t>
            </a:r>
            <a:r>
              <a:rPr lang="en-US" altLang="zh-CN" sz="1400" dirty="0" err="1">
                <a:solidFill>
                  <a:schemeClr val="tx1"/>
                </a:solidFill>
              </a:rPr>
              <a:t>postlab</a:t>
            </a:r>
            <a:r>
              <a:rPr lang="en-US" altLang="zh-CN" sz="1400" dirty="0">
                <a:solidFill>
                  <a:schemeClr val="tx1"/>
                </a:solidFill>
              </a:rPr>
              <a:t> report must include: all recorded data taken during lab, good representation of data (charts/graphs </a:t>
            </a:r>
            <a:r>
              <a:rPr lang="en-US" altLang="zh-CN" sz="1400" dirty="0" err="1">
                <a:solidFill>
                  <a:schemeClr val="tx1"/>
                </a:solidFill>
              </a:rPr>
              <a:t>etc</a:t>
            </a:r>
            <a:r>
              <a:rPr lang="en-US" altLang="zh-CN" sz="1400" dirty="0">
                <a:solidFill>
                  <a:schemeClr val="tx1"/>
                </a:solidFill>
              </a:rPr>
              <a:t>), conclusion with scientific reasoning,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3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2172" y="1264554"/>
            <a:ext cx="9475027" cy="548711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The format of lab reports: convert your scanned/word documents to </a:t>
            </a:r>
            <a:r>
              <a:rPr lang="en-US" altLang="zh-CN" sz="1600" b="1" dirty="0"/>
              <a:t>pdf format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Upload the pdf file on Canvas (no paper submissions):  </a:t>
            </a:r>
          </a:p>
          <a:p>
            <a:pPr marL="0" indent="0">
              <a:buNone/>
            </a:pPr>
            <a:r>
              <a:rPr lang="en-US" altLang="zh-CN" sz="1600" dirty="0"/>
              <a:t>	Filename</a:t>
            </a:r>
            <a:r>
              <a:rPr lang="en-US" altLang="zh-CN" sz="1600" b="1" dirty="0"/>
              <a:t>: 	</a:t>
            </a:r>
            <a:r>
              <a:rPr lang="en-US" altLang="zh-CN" sz="1600" b="1" dirty="0">
                <a:solidFill>
                  <a:srgbClr val="FF0000"/>
                </a:solidFill>
              </a:rPr>
              <a:t>Prelab#_</a:t>
            </a:r>
            <a:r>
              <a:rPr lang="en-US" altLang="zh-CN" sz="1600" b="1" dirty="0" err="1">
                <a:solidFill>
                  <a:srgbClr val="FF0000"/>
                </a:solidFill>
              </a:rPr>
              <a:t>YourName_Section</a:t>
            </a:r>
            <a:r>
              <a:rPr lang="en-US" altLang="zh-CN" sz="1600" b="1" dirty="0">
                <a:solidFill>
                  <a:srgbClr val="FF0000"/>
                </a:solidFill>
              </a:rPr>
              <a:t>#												          	</a:t>
            </a:r>
            <a:r>
              <a:rPr lang="en-US" altLang="zh-CN" sz="1600" b="1" dirty="0" err="1">
                <a:solidFill>
                  <a:srgbClr val="FF0000"/>
                </a:solidFill>
              </a:rPr>
              <a:t>Postlab</a:t>
            </a:r>
            <a:r>
              <a:rPr lang="en-US" altLang="zh-CN" sz="1600" b="1" dirty="0">
                <a:solidFill>
                  <a:srgbClr val="FF0000"/>
                </a:solidFill>
              </a:rPr>
              <a:t>#_</a:t>
            </a:r>
            <a:r>
              <a:rPr lang="en-US" altLang="zh-CN" sz="1600" b="1" dirty="0" err="1">
                <a:solidFill>
                  <a:srgbClr val="FF0000"/>
                </a:solidFill>
              </a:rPr>
              <a:t>YourName_Section</a:t>
            </a:r>
            <a:r>
              <a:rPr lang="en-US" altLang="zh-CN" sz="1600" b="1" dirty="0">
                <a:solidFill>
                  <a:srgbClr val="FF0000"/>
                </a:solidFill>
              </a:rPr>
              <a:t>#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If you need help with prelabs/</a:t>
            </a:r>
            <a:r>
              <a:rPr lang="en-US" altLang="zh-CN" sz="1600" dirty="0" err="1"/>
              <a:t>postlabs</a:t>
            </a:r>
            <a:r>
              <a:rPr lang="en-US" altLang="zh-CN" sz="1600" dirty="0"/>
              <a:t>, </a:t>
            </a:r>
            <a:r>
              <a:rPr lang="en-US" altLang="zh-CN" sz="1600" b="1" dirty="0"/>
              <a:t>attend office hours</a:t>
            </a:r>
            <a:endParaRPr lang="en-US" altLang="zh-C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Grading </a:t>
            </a:r>
            <a:r>
              <a:rPr lang="en-US" sz="1600" dirty="0">
                <a:solidFill>
                  <a:schemeClr val="tx1"/>
                </a:solidFill>
              </a:rPr>
              <a:t>Criteria: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Any issues with </a:t>
            </a:r>
            <a:r>
              <a:rPr lang="en-US" sz="1600" b="1" dirty="0">
                <a:solidFill>
                  <a:schemeClr val="tx1"/>
                </a:solidFill>
              </a:rPr>
              <a:t>graded post-lab reports </a:t>
            </a:r>
            <a:r>
              <a:rPr lang="en-US" sz="1600" dirty="0"/>
              <a:t>must be related to your TA </a:t>
            </a:r>
            <a:r>
              <a:rPr lang="en-US" sz="1600" b="1" dirty="0">
                <a:solidFill>
                  <a:schemeClr val="tx1"/>
                </a:solidFill>
              </a:rPr>
              <a:t>within 1week </a:t>
            </a:r>
            <a:r>
              <a:rPr lang="en-US" sz="1600" dirty="0"/>
              <a:t>of receiving them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904" y="3434170"/>
            <a:ext cx="2986496" cy="13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kits and AD2 Units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5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kits and AD2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783" y="1697664"/>
            <a:ext cx="9319253" cy="4820093"/>
          </a:xfrm>
        </p:spPr>
        <p:txBody>
          <a:bodyPr>
            <a:noAutofit/>
          </a:bodyPr>
          <a:lstStyle/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Each student will receive their own parts kit. No returns required. You need to bring your own batteries. (Two AAs and one 9V)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Each student will sign off an AD2 unit. This MUST be returned at the end of the semester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 will be handing out parts kits today</a:t>
            </a:r>
            <a:endParaRPr lang="en-US" sz="16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Labs Regulations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49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from common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708297"/>
            <a:ext cx="8915400" cy="457338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Students can only come for in-lab sessions as scheduled, </a:t>
            </a:r>
            <a:r>
              <a:rPr lang="en-US" sz="1900" b="1" dirty="0"/>
              <a:t>no walk-ins </a:t>
            </a:r>
            <a:r>
              <a:rPr lang="en-US" sz="1900" dirty="0"/>
              <a:t>will be allowed.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Students are only permitted to </a:t>
            </a:r>
            <a:r>
              <a:rPr lang="en-US" sz="1900" b="1" dirty="0"/>
              <a:t>enter labs 5 </a:t>
            </a:r>
            <a:r>
              <a:rPr lang="en-US" sz="1900" b="1" dirty="0" err="1"/>
              <a:t>mins</a:t>
            </a:r>
            <a:r>
              <a:rPr lang="en-US" sz="1900" b="1" dirty="0"/>
              <a:t> before </a:t>
            </a:r>
            <a:r>
              <a:rPr lang="en-US" sz="1900" dirty="0"/>
              <a:t>the labs start.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Lab session will need to be </a:t>
            </a:r>
            <a:r>
              <a:rPr lang="en-US" sz="1900" b="1" dirty="0"/>
              <a:t>completed on time</a:t>
            </a:r>
            <a:r>
              <a:rPr lang="en-US" sz="1900" dirty="0"/>
              <a:t>, so make sure to </a:t>
            </a:r>
            <a:r>
              <a:rPr lang="en-US" sz="1900" b="1" dirty="0"/>
              <a:t>you arrive on time.</a:t>
            </a:r>
          </a:p>
          <a:p>
            <a:pPr marL="0" indent="0">
              <a:buNone/>
            </a:pPr>
            <a:endParaRPr lang="en-US" sz="1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Be sure to come in </a:t>
            </a:r>
            <a:r>
              <a:rPr lang="en-US" sz="2000" b="1" dirty="0"/>
              <a:t>proper attire (PPE) </a:t>
            </a:r>
            <a:r>
              <a:rPr lang="en-US" sz="2000" dirty="0"/>
              <a:t>to the lab.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 not start an experiment without </a:t>
            </a:r>
            <a:r>
              <a:rPr lang="en-US" sz="2000" b="1" dirty="0"/>
              <a:t>TAs/ support staff supervision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sp>
        <p:nvSpPr>
          <p:cNvPr id="4" name="TextBox 3"/>
          <p:cNvSpPr txBox="1"/>
          <p:nvPr/>
        </p:nvSpPr>
        <p:spPr>
          <a:xfrm>
            <a:off x="4206240" y="6429983"/>
            <a:ext cx="8178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Sia</a:t>
            </a:r>
            <a:r>
              <a:rPr lang="en-US" sz="1200" dirty="0"/>
              <a:t> Su, Shei. “Common Labs Orientation Safety.” 11 Jan. 2021, Texas A&amp;M University, College Station, TX.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4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15</a:t>
            </a:fld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5388" y="498764"/>
            <a:ext cx="4376516" cy="570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43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440" y="465768"/>
            <a:ext cx="9347377" cy="56257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47767" y="6301432"/>
            <a:ext cx="8745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Sia</a:t>
            </a:r>
            <a:r>
              <a:rPr lang="en-US" sz="1200" dirty="0"/>
              <a:t> Su, Shei. “Common Labs Orientation Safety.” 11 Jan. 2021, Texas A&amp;M University, College Station, TX.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20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teams and roster…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3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EBF23-D307-43F9-A4FF-88E2577A6D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663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3208</TotalTime>
  <Words>747</Words>
  <Application>Microsoft Macintosh PowerPoint</Application>
  <PresentationFormat>Widescreen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Wisp</vt:lpstr>
      <vt:lpstr>Spring‘24 – ECEN 214 Labs</vt:lpstr>
      <vt:lpstr>Session Outcomes</vt:lpstr>
      <vt:lpstr>Some Basic Lab Information</vt:lpstr>
      <vt:lpstr>PowerPoint Presentation</vt:lpstr>
      <vt:lpstr>Lab Schedule</vt:lpstr>
      <vt:lpstr>Lab measurement devices</vt:lpstr>
      <vt:lpstr>Prelab and Postlab Reports </vt:lpstr>
      <vt:lpstr>Prelabs</vt:lpstr>
      <vt:lpstr>Postlab reports</vt:lpstr>
      <vt:lpstr>Submission information</vt:lpstr>
      <vt:lpstr>Parts kits and AD2 Units</vt:lpstr>
      <vt:lpstr>Parts kits and AD2</vt:lpstr>
      <vt:lpstr>Common Labs Regulations </vt:lpstr>
      <vt:lpstr>Rules from common labs</vt:lpstr>
      <vt:lpstr>PowerPoint Presentation</vt:lpstr>
      <vt:lpstr>PowerPoint Presentation</vt:lpstr>
      <vt:lpstr>Lab teams and roster…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Iresha Hemachandra</dc:creator>
  <cp:lastModifiedBy>Shrikesh S</cp:lastModifiedBy>
  <cp:revision>226</cp:revision>
  <cp:lastPrinted>2021-01-26T19:19:36Z</cp:lastPrinted>
  <dcterms:created xsi:type="dcterms:W3CDTF">2021-01-19T21:14:32Z</dcterms:created>
  <dcterms:modified xsi:type="dcterms:W3CDTF">2024-01-24T19:19:15Z</dcterms:modified>
</cp:coreProperties>
</file>